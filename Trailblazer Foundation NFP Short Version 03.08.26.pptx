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
  </p:notesMasterIdLst>
  <p:sldIdLst>
    <p:sldId id="543" r:id="rId2"/>
    <p:sldId id="540" r:id="rId3"/>
    <p:sldId id="259" r:id="rId4"/>
    <p:sldId id="548" r:id="rId5"/>
    <p:sldId id="535" r:id="rId6"/>
    <p:sldId id="545" r:id="rId7"/>
  </p:sldIdLst>
  <p:sldSz cx="9144000" cy="6858000" type="screen4x3"/>
  <p:notesSz cx="7102475" cy="93884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6" autoAdjust="0"/>
    <p:restoredTop sz="94658"/>
  </p:normalViewPr>
  <p:slideViewPr>
    <p:cSldViewPr snapToGrid="0">
      <p:cViewPr varScale="1">
        <p:scale>
          <a:sx n="99" d="100"/>
          <a:sy n="99" d="100"/>
        </p:scale>
        <p:origin x="1980"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dirty="0"/>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7AADF25F-8FC6-44A4-B845-92421DDDB3A9}" type="datetimeFigureOut">
              <a:rPr lang="en-US" smtClean="0"/>
              <a:t>3/8/2026</a:t>
            </a:fld>
            <a:endParaRPr lang="en-US" dirty="0"/>
          </a:p>
        </p:txBody>
      </p:sp>
      <p:sp>
        <p:nvSpPr>
          <p:cNvPr id="4" name="Slide Image Placeholder 3"/>
          <p:cNvSpPr>
            <a:spLocks noGrp="1" noRot="1" noChangeAspect="1"/>
          </p:cNvSpPr>
          <p:nvPr>
            <p:ph type="sldImg" idx="2"/>
          </p:nvPr>
        </p:nvSpPr>
        <p:spPr>
          <a:xfrm>
            <a:off x="1438275" y="1173163"/>
            <a:ext cx="4225925" cy="3168650"/>
          </a:xfrm>
          <a:prstGeom prst="rect">
            <a:avLst/>
          </a:prstGeom>
          <a:noFill/>
          <a:ln w="12700">
            <a:solidFill>
              <a:prstClr val="black"/>
            </a:solidFill>
          </a:ln>
        </p:spPr>
        <p:txBody>
          <a:bodyPr vert="horz" lIns="94229" tIns="47114" rIns="94229" bIns="47114" rtlCol="0" anchor="ctr"/>
          <a:lstStyle/>
          <a:p>
            <a:endParaRPr lang="en-US" dirty="0"/>
          </a:p>
        </p:txBody>
      </p:sp>
      <p:sp>
        <p:nvSpPr>
          <p:cNvPr id="5" name="Notes Placeholder 4"/>
          <p:cNvSpPr>
            <a:spLocks noGrp="1"/>
          </p:cNvSpPr>
          <p:nvPr>
            <p:ph type="body" sz="quarter" idx="3"/>
          </p:nvPr>
        </p:nvSpPr>
        <p:spPr>
          <a:xfrm>
            <a:off x="710248" y="4518204"/>
            <a:ext cx="5681980" cy="3696712"/>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3C5DB963-3A4E-4F4C-85B1-C74414CDA96A}" type="slidenum">
              <a:rPr lang="en-US" smtClean="0"/>
              <a:t>‹#›</a:t>
            </a:fld>
            <a:endParaRPr lang="en-US" dirty="0"/>
          </a:p>
        </p:txBody>
      </p:sp>
    </p:spTree>
    <p:extLst>
      <p:ext uri="{BB962C8B-B14F-4D97-AF65-F5344CB8AC3E}">
        <p14:creationId xmlns:p14="http://schemas.microsoft.com/office/powerpoint/2010/main" val="1534538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DCA7D8D-E798-4F9B-9D95-F7DE185E1078}" type="datetime1">
              <a:rPr lang="en-US" smtClean="0"/>
              <a:t>3/8/2026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8700BC0-C98F-4901-B94C-E1B0001E3602}" type="slidenum">
              <a:rPr lang="en-US" smtClean="0"/>
              <a:t>‹#›</a:t>
            </a:fld>
            <a:endParaRPr lang="en-US" dirty="0"/>
          </a:p>
        </p:txBody>
      </p:sp>
    </p:spTree>
    <p:extLst>
      <p:ext uri="{BB962C8B-B14F-4D97-AF65-F5344CB8AC3E}">
        <p14:creationId xmlns:p14="http://schemas.microsoft.com/office/powerpoint/2010/main" val="41861502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A1FCA86-A33A-4391-B441-4A5E5202910E}" type="datetime1">
              <a:rPr lang="en-US" smtClean="0"/>
              <a:t>3/8/2026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8700BC0-C98F-4901-B94C-E1B0001E3602}" type="slidenum">
              <a:rPr lang="en-US" smtClean="0"/>
              <a:t>‹#›</a:t>
            </a:fld>
            <a:endParaRPr lang="en-US" dirty="0"/>
          </a:p>
        </p:txBody>
      </p:sp>
    </p:spTree>
    <p:extLst>
      <p:ext uri="{BB962C8B-B14F-4D97-AF65-F5344CB8AC3E}">
        <p14:creationId xmlns:p14="http://schemas.microsoft.com/office/powerpoint/2010/main" val="24447954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07BCA5-AF2E-4027-8650-67D4E68B071A}" type="datetime1">
              <a:rPr lang="en-US" smtClean="0"/>
              <a:t>3/8/2026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8700BC0-C98F-4901-B94C-E1B0001E3602}" type="slidenum">
              <a:rPr lang="en-US" smtClean="0"/>
              <a:t>‹#›</a:t>
            </a:fld>
            <a:endParaRPr lang="en-US" dirty="0"/>
          </a:p>
        </p:txBody>
      </p:sp>
    </p:spTree>
    <p:extLst>
      <p:ext uri="{BB962C8B-B14F-4D97-AF65-F5344CB8AC3E}">
        <p14:creationId xmlns:p14="http://schemas.microsoft.com/office/powerpoint/2010/main" val="594919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FA63D10-D8C0-42C3-B587-CB4D186EEE1E}" type="datetime1">
              <a:rPr lang="en-US" smtClean="0"/>
              <a:t>3/8/2026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8700BC0-C98F-4901-B94C-E1B0001E3602}" type="slidenum">
              <a:rPr lang="en-US" smtClean="0"/>
              <a:t>‹#›</a:t>
            </a:fld>
            <a:endParaRPr lang="en-US" dirty="0"/>
          </a:p>
        </p:txBody>
      </p:sp>
    </p:spTree>
    <p:extLst>
      <p:ext uri="{BB962C8B-B14F-4D97-AF65-F5344CB8AC3E}">
        <p14:creationId xmlns:p14="http://schemas.microsoft.com/office/powerpoint/2010/main" val="24639815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E338515-686E-44FF-BEF7-187788180820}" type="datetime1">
              <a:rPr lang="en-US" smtClean="0"/>
              <a:t>3/8/2026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8700BC0-C98F-4901-B94C-E1B0001E3602}" type="slidenum">
              <a:rPr lang="en-US" smtClean="0"/>
              <a:t>‹#›</a:t>
            </a:fld>
            <a:endParaRPr lang="en-US" dirty="0"/>
          </a:p>
        </p:txBody>
      </p:sp>
    </p:spTree>
    <p:extLst>
      <p:ext uri="{BB962C8B-B14F-4D97-AF65-F5344CB8AC3E}">
        <p14:creationId xmlns:p14="http://schemas.microsoft.com/office/powerpoint/2010/main" val="21425268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60EF06A-919E-4D97-A2EF-2BD1B99AA248}" type="datetime1">
              <a:rPr lang="en-US" smtClean="0"/>
              <a:t>3/8/2026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8700BC0-C98F-4901-B94C-E1B0001E3602}" type="slidenum">
              <a:rPr lang="en-US" smtClean="0"/>
              <a:t>‹#›</a:t>
            </a:fld>
            <a:endParaRPr lang="en-US" dirty="0"/>
          </a:p>
        </p:txBody>
      </p:sp>
    </p:spTree>
    <p:extLst>
      <p:ext uri="{BB962C8B-B14F-4D97-AF65-F5344CB8AC3E}">
        <p14:creationId xmlns:p14="http://schemas.microsoft.com/office/powerpoint/2010/main" val="19906145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71B846-E270-4F26-90B2-19D07D789D56}" type="datetime1">
              <a:rPr lang="en-US" smtClean="0"/>
              <a:t>3/8/2026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8700BC0-C98F-4901-B94C-E1B0001E3602}" type="slidenum">
              <a:rPr lang="en-US" smtClean="0"/>
              <a:t>‹#›</a:t>
            </a:fld>
            <a:endParaRPr lang="en-US" dirty="0"/>
          </a:p>
        </p:txBody>
      </p:sp>
    </p:spTree>
    <p:extLst>
      <p:ext uri="{BB962C8B-B14F-4D97-AF65-F5344CB8AC3E}">
        <p14:creationId xmlns:p14="http://schemas.microsoft.com/office/powerpoint/2010/main" val="3021030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710E50A-CBDB-414C-9F8B-4E5FDE249CFF}" type="datetime1">
              <a:rPr lang="en-US" smtClean="0"/>
              <a:t>3/8/2026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8700BC0-C98F-4901-B94C-E1B0001E3602}" type="slidenum">
              <a:rPr lang="en-US" smtClean="0"/>
              <a:t>‹#›</a:t>
            </a:fld>
            <a:endParaRPr lang="en-US" dirty="0"/>
          </a:p>
        </p:txBody>
      </p:sp>
    </p:spTree>
    <p:extLst>
      <p:ext uri="{BB962C8B-B14F-4D97-AF65-F5344CB8AC3E}">
        <p14:creationId xmlns:p14="http://schemas.microsoft.com/office/powerpoint/2010/main" val="29996364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29775D2-4FFD-4A14-AA0E-2CA194B4EB2E}" type="datetime1">
              <a:rPr lang="en-US" smtClean="0"/>
              <a:t>3/8/2026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8700BC0-C98F-4901-B94C-E1B0001E3602}" type="slidenum">
              <a:rPr lang="en-US" smtClean="0"/>
              <a:t>‹#›</a:t>
            </a:fld>
            <a:endParaRPr lang="en-US" dirty="0"/>
          </a:p>
        </p:txBody>
      </p:sp>
    </p:spTree>
    <p:extLst>
      <p:ext uri="{BB962C8B-B14F-4D97-AF65-F5344CB8AC3E}">
        <p14:creationId xmlns:p14="http://schemas.microsoft.com/office/powerpoint/2010/main" val="4172164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ADD550A-6C84-4DD3-9EEB-6C005DB62858}" type="datetime1">
              <a:rPr lang="en-US" smtClean="0"/>
              <a:t>3/8/2026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8700BC0-C98F-4901-B94C-E1B0001E3602}" type="slidenum">
              <a:rPr lang="en-US" smtClean="0"/>
              <a:t>‹#›</a:t>
            </a:fld>
            <a:endParaRPr lang="en-US" dirty="0"/>
          </a:p>
        </p:txBody>
      </p:sp>
    </p:spTree>
    <p:extLst>
      <p:ext uri="{BB962C8B-B14F-4D97-AF65-F5344CB8AC3E}">
        <p14:creationId xmlns:p14="http://schemas.microsoft.com/office/powerpoint/2010/main" val="1294560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7C8212B-1EB0-43A8-A98F-434A83C522A7}" type="datetime1">
              <a:rPr lang="en-US" smtClean="0"/>
              <a:t>3/8/2026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8700BC0-C98F-4901-B94C-E1B0001E3602}" type="slidenum">
              <a:rPr lang="en-US" smtClean="0"/>
              <a:t>‹#›</a:t>
            </a:fld>
            <a:endParaRPr lang="en-US" dirty="0"/>
          </a:p>
        </p:txBody>
      </p:sp>
    </p:spTree>
    <p:extLst>
      <p:ext uri="{BB962C8B-B14F-4D97-AF65-F5344CB8AC3E}">
        <p14:creationId xmlns:p14="http://schemas.microsoft.com/office/powerpoint/2010/main" val="874861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F25184-6094-4586-A929-0CF10C1FD6C7}" type="datetime1">
              <a:rPr lang="en-US" smtClean="0"/>
              <a:t>3/8/2026</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8700BC0-C98F-4901-B94C-E1B0001E3602}" type="slidenum">
              <a:rPr lang="en-US" smtClean="0"/>
              <a:t>‹#›</a:t>
            </a:fld>
            <a:endParaRPr lang="en-US" dirty="0"/>
          </a:p>
        </p:txBody>
      </p:sp>
    </p:spTree>
    <p:extLst>
      <p:ext uri="{BB962C8B-B14F-4D97-AF65-F5344CB8AC3E}">
        <p14:creationId xmlns:p14="http://schemas.microsoft.com/office/powerpoint/2010/main" val="30017963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mailto:tedrivera@hotmail.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C4980-39B3-65D5-6253-0F2521404FFF}"/>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D099DE50-DFC4-275A-CBE9-09BD39D14295}"/>
              </a:ext>
            </a:extLst>
          </p:cNvPr>
          <p:cNvSpPr>
            <a:spLocks noGrp="1"/>
          </p:cNvSpPr>
          <p:nvPr>
            <p:ph type="title"/>
          </p:nvPr>
        </p:nvSpPr>
        <p:spPr>
          <a:xfrm>
            <a:off x="410546" y="666263"/>
            <a:ext cx="8500187" cy="1325563"/>
          </a:xfrm>
        </p:spPr>
        <p:txBody>
          <a:bodyPr>
            <a:normAutofit fontScale="90000"/>
          </a:bodyPr>
          <a:lstStyle/>
          <a:p>
            <a:pPr algn="ctr"/>
            <a:r>
              <a:rPr lang="en-US" dirty="0"/>
              <a:t>Trailblazer Foundation NFP</a:t>
            </a:r>
            <a:br>
              <a:rPr lang="en-US" sz="2700" dirty="0"/>
            </a:br>
            <a:br>
              <a:rPr lang="en-US" sz="2700" dirty="0"/>
            </a:br>
            <a:r>
              <a:rPr lang="en-US" i="1" dirty="0"/>
              <a:t>Request for Funding</a:t>
            </a:r>
          </a:p>
        </p:txBody>
      </p:sp>
      <p:sp>
        <p:nvSpPr>
          <p:cNvPr id="10" name="Slide Number Placeholder 9">
            <a:extLst>
              <a:ext uri="{FF2B5EF4-FFF2-40B4-BE49-F238E27FC236}">
                <a16:creationId xmlns:a16="http://schemas.microsoft.com/office/drawing/2014/main" id="{D87A8080-5F3B-756A-A16A-220DC9951A32}"/>
              </a:ext>
            </a:extLst>
          </p:cNvPr>
          <p:cNvSpPr>
            <a:spLocks noGrp="1"/>
          </p:cNvSpPr>
          <p:nvPr>
            <p:ph type="sldNum" sz="quarter" idx="12"/>
          </p:nvPr>
        </p:nvSpPr>
        <p:spPr/>
        <p:txBody>
          <a:bodyPr/>
          <a:lstStyle/>
          <a:p>
            <a:fld id="{88700BC0-C98F-4901-B94C-E1B0001E3602}" type="slidenum">
              <a:rPr lang="en-US" smtClean="0"/>
              <a:t>1</a:t>
            </a:fld>
            <a:endParaRPr lang="en-US" dirty="0"/>
          </a:p>
        </p:txBody>
      </p:sp>
      <p:pic>
        <p:nvPicPr>
          <p:cNvPr id="6" name="Picture 5">
            <a:extLst>
              <a:ext uri="{FF2B5EF4-FFF2-40B4-BE49-F238E27FC236}">
                <a16:creationId xmlns:a16="http://schemas.microsoft.com/office/drawing/2014/main" id="{2107334A-B404-7E6A-A9BF-18C25E30C1AF}"/>
              </a:ext>
            </a:extLst>
          </p:cNvPr>
          <p:cNvPicPr>
            <a:picLocks noChangeAspect="1"/>
          </p:cNvPicPr>
          <p:nvPr/>
        </p:nvPicPr>
        <p:blipFill>
          <a:blip r:embed="rId2"/>
          <a:srcRect l="27684" t="22445" r="48211" b="15614"/>
          <a:stretch>
            <a:fillRect/>
          </a:stretch>
        </p:blipFill>
        <p:spPr>
          <a:xfrm>
            <a:off x="3234207" y="2232782"/>
            <a:ext cx="2852863" cy="4123569"/>
          </a:xfrm>
          <a:prstGeom prst="rect">
            <a:avLst/>
          </a:prstGeom>
        </p:spPr>
      </p:pic>
    </p:spTree>
    <p:extLst>
      <p:ext uri="{BB962C8B-B14F-4D97-AF65-F5344CB8AC3E}">
        <p14:creationId xmlns:p14="http://schemas.microsoft.com/office/powerpoint/2010/main" val="2505420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644CDB2-690D-07E3-027B-AFBF35EA8EAD}"/>
              </a:ext>
            </a:extLst>
          </p:cNvPr>
          <p:cNvSpPr>
            <a:spLocks noGrp="1"/>
          </p:cNvSpPr>
          <p:nvPr>
            <p:ph type="title"/>
          </p:nvPr>
        </p:nvSpPr>
        <p:spPr>
          <a:xfrm>
            <a:off x="628650" y="72791"/>
            <a:ext cx="7886700" cy="875898"/>
          </a:xfrm>
        </p:spPr>
        <p:txBody>
          <a:bodyPr/>
          <a:lstStyle/>
          <a:p>
            <a:pPr algn="ctr"/>
            <a:r>
              <a:rPr lang="en-US" dirty="0"/>
              <a:t>Executive Summary</a:t>
            </a:r>
          </a:p>
        </p:txBody>
      </p:sp>
      <p:sp>
        <p:nvSpPr>
          <p:cNvPr id="8" name="TextBox 7">
            <a:extLst>
              <a:ext uri="{FF2B5EF4-FFF2-40B4-BE49-F238E27FC236}">
                <a16:creationId xmlns:a16="http://schemas.microsoft.com/office/drawing/2014/main" id="{930F1812-DFF4-84F4-0423-1E64677CDFF3}"/>
              </a:ext>
            </a:extLst>
          </p:cNvPr>
          <p:cNvSpPr txBox="1"/>
          <p:nvPr/>
        </p:nvSpPr>
        <p:spPr>
          <a:xfrm>
            <a:off x="194912" y="812166"/>
            <a:ext cx="8754176" cy="5886227"/>
          </a:xfrm>
          <a:prstGeom prst="rect">
            <a:avLst/>
          </a:prstGeom>
          <a:noFill/>
        </p:spPr>
        <p:txBody>
          <a:bodyPr wrap="square">
            <a:spAutoFit/>
          </a:bodyPr>
          <a:lstStyle/>
          <a:p>
            <a:r>
              <a:rPr lang="en-US" sz="1400" dirty="0">
                <a:solidFill>
                  <a:srgbClr val="000000"/>
                </a:solidFill>
                <a:latin typeface="Calibri" panose="020F0502020204030204" pitchFamily="34" charset="0"/>
                <a:ea typeface="Calibri" panose="020F0502020204030204" pitchFamily="34" charset="0"/>
                <a:cs typeface="Calibri" panose="020F0502020204030204" pitchFamily="34" charset="0"/>
              </a:rPr>
              <a:t>It is both a privilege and honor to present an extraordinary opportunity to partner with us for creating a long-lasting transformational impact for our youth.  Our team has spent years developing, writing and publishing a powerful book that amplifies the voices and stories of Latina leaders which will enrich students of all backgrounds. Now, we are ready to bring this book to thousands of students to inspire them to see greatness in themselves just as the authors have showcased in their own journeys! </a:t>
            </a:r>
          </a:p>
          <a:p>
            <a:pPr marR="0"/>
            <a:endParaRPr lang="en-US" sz="16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285750" marR="0" indent="-285750">
              <a:buFont typeface="Arial" panose="020B0604020202020204" pitchFamily="34" charset="0"/>
              <a:buChar char="•"/>
            </a:pPr>
            <a:r>
              <a:rPr lang="en-US" sz="1400" b="1" u="sng" dirty="0">
                <a:solidFill>
                  <a:srgbClr val="000000"/>
                </a:solidFill>
                <a:latin typeface="Calibri" panose="020F0502020204030204" pitchFamily="34" charset="0"/>
                <a:ea typeface="Calibri" panose="020F0502020204030204" pitchFamily="34" charset="0"/>
                <a:cs typeface="Calibri" panose="020F0502020204030204" pitchFamily="34" charset="0"/>
              </a:rPr>
              <a:t>Who are we</a:t>
            </a:r>
            <a:r>
              <a:rPr lang="en-US" sz="14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400" dirty="0">
                <a:latin typeface="Calibri" panose="020F0502020204030204" pitchFamily="34" charset="0"/>
                <a:ea typeface="Calibri" panose="020F0502020204030204" pitchFamily="34" charset="0"/>
                <a:cs typeface="Calibri" panose="020F0502020204030204" pitchFamily="34" charset="0"/>
              </a:rPr>
              <a:t>We are a local Non-For-Profit Organization (Trailblazer Foundation, a 501(c)(3) NFP) dedicated to empowering students through education, leadership development and storytelling.  We are committed to delivering high-impact programming in partnership with several Chicago Public High schools. Our efforts and goals are part of a larger movement in Illinois that aims to empower all students through learning about our Latino communities for preparation to positively impact current and future generations.</a:t>
            </a: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endParaRPr lang="en-US" sz="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b="1" u="sng" dirty="0">
                <a:solidFill>
                  <a:srgbClr val="000000"/>
                </a:solidFill>
                <a:latin typeface="Calibri" panose="020F0502020204030204" pitchFamily="34" charset="0"/>
                <a:ea typeface="Calibri" panose="020F0502020204030204" pitchFamily="34" charset="0"/>
                <a:cs typeface="Calibri" panose="020F0502020204030204" pitchFamily="34" charset="0"/>
              </a:rPr>
              <a:t>What we want to do</a:t>
            </a:r>
            <a:r>
              <a:rPr lang="en-US" sz="14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400" kern="100" dirty="0">
                <a:latin typeface="Calibri" panose="020F0502020204030204" pitchFamily="34" charset="0"/>
                <a:ea typeface="Calibri" panose="020F0502020204030204" pitchFamily="34" charset="0"/>
                <a:cs typeface="Calibri" panose="020F0502020204030204" pitchFamily="34" charset="0"/>
              </a:rPr>
              <a:t> We seek to design and launch a curriculum centered on our recently published book - </a:t>
            </a:r>
            <a:r>
              <a:rPr lang="en-US" sz="14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Chicago Latina Trailblazers: Testimonios of Political Activism</a:t>
            </a:r>
            <a:r>
              <a:rPr lang="en-US" sz="1400" i="1"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4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400" kern="100" dirty="0">
                <a:latin typeface="Calibri" panose="020F0502020204030204" pitchFamily="34" charset="0"/>
                <a:ea typeface="Calibri" panose="020F0502020204030204" pitchFamily="34" charset="0"/>
                <a:cs typeface="Calibri" panose="020F0502020204030204" pitchFamily="34" charset="0"/>
              </a:rPr>
              <a:t> and provide copies of this book directly to the schools. The book’s lead editor and author is our organization’s founder, Dr. Rita D. Hernandez. </a:t>
            </a:r>
            <a:endParaRPr lang="en-US" sz="1400" i="1"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US" sz="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b="1" u="sng" dirty="0">
                <a:solidFill>
                  <a:srgbClr val="000000"/>
                </a:solidFill>
                <a:latin typeface="Calibri" panose="020F0502020204030204" pitchFamily="34" charset="0"/>
                <a:ea typeface="Calibri" panose="020F0502020204030204" pitchFamily="34" charset="0"/>
                <a:cs typeface="Calibri" panose="020F0502020204030204" pitchFamily="34" charset="0"/>
              </a:rPr>
              <a:t>Value added:</a:t>
            </a:r>
            <a:r>
              <a:rPr lang="en-US" sz="1400" dirty="0">
                <a:solidFill>
                  <a:srgbClr val="000000"/>
                </a:solidFill>
                <a:latin typeface="Calibri" panose="020F0502020204030204" pitchFamily="34" charset="0"/>
                <a:ea typeface="Calibri" panose="020F0502020204030204" pitchFamily="34" charset="0"/>
                <a:cs typeface="Calibri" panose="020F0502020204030204" pitchFamily="34" charset="0"/>
              </a:rPr>
              <a:t> This program is designed to ignite student achievement through reading and meaningful engagement.  Students will not only develop literacy skills, they will also learn and put in action the great messages the book provides on drive, discipline, culture and taking the initiative for greatness. These values and traits will continue to grow our Hispanic/Latina/o/x and other minority communities in many ways.  </a:t>
            </a:r>
            <a:endParaRPr lang="en-US" sz="1400" i="1"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US" sz="800" b="1" u="sng"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b="1" u="sng"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How we want to do it:</a:t>
            </a:r>
            <a:r>
              <a:rPr lang="en-US" sz="14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400" dirty="0">
                <a:solidFill>
                  <a:srgbClr val="000000"/>
                </a:solidFill>
                <a:latin typeface="Calibri" panose="020F0502020204030204" pitchFamily="34" charset="0"/>
                <a:ea typeface="Calibri" panose="020F0502020204030204" pitchFamily="34" charset="0"/>
                <a:cs typeface="Calibri" panose="020F0502020204030204" pitchFamily="34" charset="0"/>
              </a:rPr>
              <a:t>We are fortunate that we have already secured five</a:t>
            </a: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Chicago high schools to implement such a program in the upcoming </a:t>
            </a:r>
            <a:r>
              <a:rPr lang="en-US" sz="1400" dirty="0">
                <a:solidFill>
                  <a:srgbClr val="000000"/>
                </a:solidFill>
                <a:latin typeface="Calibri" panose="020F0502020204030204" pitchFamily="34" charset="0"/>
                <a:ea typeface="Calibri" panose="020F0502020204030204" pitchFamily="34" charset="0"/>
                <a:cs typeface="Calibri" panose="020F0502020204030204" pitchFamily="34" charset="0"/>
              </a:rPr>
              <a:t>Fall </a:t>
            </a: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2026 school year! </a:t>
            </a:r>
            <a:r>
              <a:rPr lang="en-US" sz="1400" dirty="0">
                <a:solidFill>
                  <a:srgbClr val="000000"/>
                </a:solidFill>
                <a:latin typeface="Calibri" panose="020F0502020204030204" pitchFamily="34" charset="0"/>
                <a:ea typeface="Calibri" panose="020F0502020204030204" pitchFamily="34" charset="0"/>
                <a:cs typeface="Calibri" panose="020F0502020204030204" pitchFamily="34" charset="0"/>
              </a:rPr>
              <a:t>With school timelines approaching and book orders needed in advance, timely funding is critical to ensure the curriculum and materials are delivered on schedule.</a:t>
            </a: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US" sz="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b="1" u="sng" dirty="0">
                <a:latin typeface="Calibri" panose="020F0502020204030204" pitchFamily="34" charset="0"/>
                <a:ea typeface="Calibri" panose="020F0502020204030204" pitchFamily="34" charset="0"/>
                <a:cs typeface="Calibri" panose="020F0502020204030204" pitchFamily="34" charset="0"/>
              </a:rPr>
              <a:t>The ask:</a:t>
            </a:r>
            <a:r>
              <a:rPr lang="en-US" sz="1400" b="1" dirty="0">
                <a:latin typeface="Calibri" panose="020F0502020204030204" pitchFamily="34" charset="0"/>
                <a:ea typeface="Calibri" panose="020F0502020204030204" pitchFamily="34" charset="0"/>
                <a:cs typeface="Calibri" panose="020F0502020204030204" pitchFamily="34" charset="0"/>
              </a:rPr>
              <a:t>  </a:t>
            </a:r>
            <a:r>
              <a:rPr lang="en-US" sz="1400" dirty="0">
                <a:latin typeface="Calibri" panose="020F0502020204030204" pitchFamily="34" charset="0"/>
                <a:ea typeface="Calibri" panose="020F0502020204030204" pitchFamily="34" charset="0"/>
                <a:cs typeface="Calibri" panose="020F0502020204030204" pitchFamily="34" charset="0"/>
              </a:rPr>
              <a:t>To bring this initiative to life, </a:t>
            </a:r>
            <a:r>
              <a:rPr lang="en-US" sz="1400" dirty="0">
                <a:highlight>
                  <a:srgbClr val="FFFF00"/>
                </a:highlight>
                <a:latin typeface="Calibri" panose="020F0502020204030204" pitchFamily="34" charset="0"/>
                <a:ea typeface="Calibri" panose="020F0502020204030204" pitchFamily="34" charset="0"/>
                <a:cs typeface="Calibri" panose="020F0502020204030204" pitchFamily="34" charset="0"/>
              </a:rPr>
              <a:t>our Foundation is a seeking a grant of $210,000 </a:t>
            </a:r>
            <a:r>
              <a:rPr lang="en-US" sz="1400" dirty="0">
                <a:latin typeface="Calibri" panose="020F0502020204030204" pitchFamily="34" charset="0"/>
                <a:ea typeface="Calibri" panose="020F0502020204030204" pitchFamily="34" charset="0"/>
                <a:cs typeface="Calibri" panose="020F0502020204030204" pitchFamily="34" charset="0"/>
              </a:rPr>
              <a:t>to cover curriculum development, book distribution, and program delivery.  Detailed budget information is attached. Your support will directly impact thousands of students.</a:t>
            </a:r>
            <a:endParaRPr lang="en-US" sz="1400"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9" name="Slide Number Placeholder 8">
            <a:extLst>
              <a:ext uri="{FF2B5EF4-FFF2-40B4-BE49-F238E27FC236}">
                <a16:creationId xmlns:a16="http://schemas.microsoft.com/office/drawing/2014/main" id="{3D818C99-D399-BBAF-73D1-E13AF28C8F07}"/>
              </a:ext>
            </a:extLst>
          </p:cNvPr>
          <p:cNvSpPr>
            <a:spLocks noGrp="1"/>
          </p:cNvSpPr>
          <p:nvPr>
            <p:ph type="sldNum" sz="quarter" idx="12"/>
          </p:nvPr>
        </p:nvSpPr>
        <p:spPr/>
        <p:txBody>
          <a:bodyPr/>
          <a:lstStyle/>
          <a:p>
            <a:fld id="{88700BC0-C98F-4901-B94C-E1B0001E3602}" type="slidenum">
              <a:rPr lang="en-US" smtClean="0"/>
              <a:t>2</a:t>
            </a:fld>
            <a:endParaRPr lang="en-US" dirty="0"/>
          </a:p>
        </p:txBody>
      </p:sp>
    </p:spTree>
    <p:extLst>
      <p:ext uri="{BB962C8B-B14F-4D97-AF65-F5344CB8AC3E}">
        <p14:creationId xmlns:p14="http://schemas.microsoft.com/office/powerpoint/2010/main" val="16581514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B214B99-DAB0-6227-0B5B-4FF6870A7F39}"/>
              </a:ext>
            </a:extLst>
          </p:cNvPr>
          <p:cNvSpPr txBox="1"/>
          <p:nvPr/>
        </p:nvSpPr>
        <p:spPr>
          <a:xfrm>
            <a:off x="628650" y="647158"/>
            <a:ext cx="7908958" cy="5503366"/>
          </a:xfrm>
          <a:prstGeom prst="rect">
            <a:avLst/>
          </a:prstGeom>
          <a:noFill/>
        </p:spPr>
        <p:txBody>
          <a:bodyPr wrap="square">
            <a:spAutoFit/>
          </a:bodyPr>
          <a:lstStyle/>
          <a:p>
            <a:pPr marL="0" marR="0" algn="ctr">
              <a:lnSpc>
                <a:spcPct val="115000"/>
              </a:lnSpc>
              <a:spcAft>
                <a:spcPts val="800"/>
              </a:spcAft>
              <a:buNone/>
            </a:pPr>
            <a:endParaRPr lang="en-US" sz="1400" b="1" kern="100" dirty="0">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Aft>
                <a:spcPts val="800"/>
              </a:spcAft>
              <a:buNone/>
            </a:pPr>
            <a:endParaRPr lang="en-US" sz="14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endParaRPr lang="en-US" sz="14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400" b="1" kern="100" dirty="0">
                <a:effectLst/>
                <a:latin typeface="Calibri" panose="020F0502020204030204" pitchFamily="34" charset="0"/>
                <a:ea typeface="Calibri" panose="020F0502020204030204" pitchFamily="34" charset="0"/>
                <a:cs typeface="Times New Roman" panose="02020603050405020304" pitchFamily="18" charset="0"/>
              </a:rPr>
              <a:t>MISSION:  </a:t>
            </a: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To Improve Student Achievement Through Reading</a:t>
            </a:r>
          </a:p>
          <a:p>
            <a:pPr marL="0" marR="0">
              <a:lnSpc>
                <a:spcPct val="115000"/>
              </a:lnSpc>
              <a:spcAft>
                <a:spcPts val="800"/>
              </a:spcAft>
              <a:buNone/>
            </a:pPr>
            <a:r>
              <a:rPr lang="en-US" sz="1400" b="1" kern="100" dirty="0">
                <a:effectLst/>
                <a:latin typeface="Calibri" panose="020F0502020204030204" pitchFamily="34" charset="0"/>
                <a:ea typeface="Calibri" panose="020F0502020204030204" pitchFamily="34" charset="0"/>
                <a:cs typeface="Times New Roman" panose="02020603050405020304" pitchFamily="18" charset="0"/>
              </a:rPr>
              <a:t>Vision:  </a:t>
            </a: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Hold High Expectations in Reading for All Students</a:t>
            </a:r>
          </a:p>
          <a:p>
            <a:pPr marL="0" marR="0">
              <a:lnSpc>
                <a:spcPct val="115000"/>
              </a:lnSpc>
              <a:spcAft>
                <a:spcPts val="800"/>
              </a:spcAft>
              <a:buNone/>
            </a:pPr>
            <a:r>
              <a:rPr lang="en-US" sz="1400" b="1" kern="100" dirty="0">
                <a:effectLst/>
                <a:latin typeface="Calibri" panose="020F0502020204030204" pitchFamily="34" charset="0"/>
                <a:ea typeface="Calibri" panose="020F0502020204030204" pitchFamily="34" charset="0"/>
                <a:cs typeface="Times New Roman" panose="02020603050405020304" pitchFamily="18" charset="0"/>
              </a:rPr>
              <a:t> GOALS:</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buFont typeface="+mj-lt"/>
              <a:buAutoNum type="arabicPeriod"/>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To Expand Return on Investment for Trailblazer Foundation</a:t>
            </a:r>
          </a:p>
          <a:p>
            <a:pPr marL="342900" marR="0" lvl="0" indent="-342900">
              <a:lnSpc>
                <a:spcPct val="115000"/>
              </a:lnSpc>
              <a:buFont typeface="+mj-lt"/>
              <a:buAutoNum type="arabicPeriod"/>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To Influence Reading as a “Key to Success” by Preparing Students for Gainful Employment</a:t>
            </a:r>
          </a:p>
          <a:p>
            <a:pPr marL="342900" marR="0" lvl="0" indent="-342900">
              <a:lnSpc>
                <a:spcPct val="115000"/>
              </a:lnSpc>
              <a:buFont typeface="+mj-lt"/>
              <a:buAutoNum type="arabicPeriod"/>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To Measure Reading Improvement for Twenty-five percent of Student Population by NAEP (National Assessment in Educational Progress) and PEW Standards, The Nation’s Report Card</a:t>
            </a:r>
          </a:p>
          <a:p>
            <a:pPr marL="342900" marR="0" lvl="0" indent="-342900">
              <a:lnSpc>
                <a:spcPct val="115000"/>
              </a:lnSpc>
              <a:buFont typeface="+mj-lt"/>
              <a:buAutoNum type="arabicPeriod"/>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To Provide Socio-cultural Relevant Books, which Fuels Their Interest in Reading</a:t>
            </a:r>
          </a:p>
          <a:p>
            <a:pPr marL="342900" marR="0" lvl="0" indent="-342900">
              <a:lnSpc>
                <a:spcPct val="115000"/>
              </a:lnSpc>
              <a:buFont typeface="+mj-lt"/>
              <a:buAutoNum type="arabicPeriod"/>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To Encourage Reading with Partnerships by Distributing </a:t>
            </a:r>
            <a:r>
              <a:rPr lang="en-US" sz="1400" i="1" kern="100" dirty="0">
                <a:effectLst/>
                <a:latin typeface="Calibri" panose="020F0502020204030204" pitchFamily="34" charset="0"/>
                <a:ea typeface="Calibri" panose="020F0502020204030204" pitchFamily="34" charset="0"/>
                <a:cs typeface="Times New Roman" panose="02020603050405020304" pitchFamily="18" charset="0"/>
              </a:rPr>
              <a:t>Chicago Latina Trailblazers</a:t>
            </a: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 (the book) as a Tool to Chicago’s Multi-generation Civic Centers, Schools, and Organizations</a:t>
            </a:r>
          </a:p>
          <a:p>
            <a:pPr marL="342900" marR="0" lvl="0" indent="-342900">
              <a:lnSpc>
                <a:spcPct val="115000"/>
              </a:lnSpc>
              <a:buFont typeface="+mj-lt"/>
              <a:buAutoNum type="arabicPeriod"/>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To Establish Financial Literacy and to Help Students Solve Problems through Reading</a:t>
            </a:r>
          </a:p>
          <a:p>
            <a:pPr marL="342900" marR="0" lvl="0" indent="-342900">
              <a:lnSpc>
                <a:spcPct val="115000"/>
              </a:lnSpc>
              <a:buFont typeface="+mj-lt"/>
              <a:buAutoNum type="arabicPeriod"/>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To Provide Reading Tools to Access Opportunities for Recognizing Chicago Public Schools as a Clearinghouse for Latino-centric Books</a:t>
            </a:r>
          </a:p>
          <a:p>
            <a:pPr marL="342900" marR="0" lvl="0" indent="-342900">
              <a:lnSpc>
                <a:spcPct val="115000"/>
              </a:lnSpc>
              <a:spcAft>
                <a:spcPts val="800"/>
              </a:spcAft>
              <a:buFont typeface="+mj-lt"/>
              <a:buAutoNum type="arabicPeriod"/>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To Provide Reading Access to Critical Thinking Skills, Creativity, Improved English Language Skills, which Lead to </a:t>
            </a:r>
            <a:r>
              <a:rPr lang="en-US" sz="1400" kern="100" dirty="0">
                <a:latin typeface="Calibri" panose="020F0502020204030204" pitchFamily="34" charset="0"/>
                <a:ea typeface="Calibri" panose="020F0502020204030204" pitchFamily="34" charset="0"/>
                <a:cs typeface="Times New Roman" panose="02020603050405020304" pitchFamily="18" charset="0"/>
              </a:rPr>
              <a:t>gainful employment o</a:t>
            </a: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pportunities plus countless intangible benefits</a:t>
            </a:r>
          </a:p>
          <a:p>
            <a:pPr marR="0">
              <a:lnSpc>
                <a:spcPct val="115000"/>
              </a:lnSpc>
              <a:spcAft>
                <a:spcPts val="800"/>
              </a:spcAft>
            </a:pP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Title 1">
            <a:extLst>
              <a:ext uri="{FF2B5EF4-FFF2-40B4-BE49-F238E27FC236}">
                <a16:creationId xmlns:a16="http://schemas.microsoft.com/office/drawing/2014/main" id="{552493BE-685F-293C-1A8D-EC4EA6AE7733}"/>
              </a:ext>
            </a:extLst>
          </p:cNvPr>
          <p:cNvSpPr>
            <a:spLocks noGrp="1"/>
          </p:cNvSpPr>
          <p:nvPr>
            <p:ph type="title"/>
          </p:nvPr>
        </p:nvSpPr>
        <p:spPr>
          <a:xfrm>
            <a:off x="628650" y="365126"/>
            <a:ext cx="7886700" cy="1325563"/>
          </a:xfrm>
        </p:spPr>
        <p:txBody>
          <a:bodyPr/>
          <a:lstStyle/>
          <a:p>
            <a:pPr algn="ctr"/>
            <a:r>
              <a:rPr lang="en-US" dirty="0"/>
              <a:t>Trailblazer Foundation NFP</a:t>
            </a:r>
          </a:p>
        </p:txBody>
      </p:sp>
      <p:sp>
        <p:nvSpPr>
          <p:cNvPr id="7" name="Slide Number Placeholder 6">
            <a:extLst>
              <a:ext uri="{FF2B5EF4-FFF2-40B4-BE49-F238E27FC236}">
                <a16:creationId xmlns:a16="http://schemas.microsoft.com/office/drawing/2014/main" id="{CF1CD7D6-58C6-9402-D035-53862FC8AAD8}"/>
              </a:ext>
            </a:extLst>
          </p:cNvPr>
          <p:cNvSpPr>
            <a:spLocks noGrp="1"/>
          </p:cNvSpPr>
          <p:nvPr>
            <p:ph type="sldNum" sz="quarter" idx="12"/>
          </p:nvPr>
        </p:nvSpPr>
        <p:spPr/>
        <p:txBody>
          <a:bodyPr/>
          <a:lstStyle/>
          <a:p>
            <a:fld id="{88700BC0-C98F-4901-B94C-E1B0001E3602}" type="slidenum">
              <a:rPr lang="en-US" smtClean="0"/>
              <a:t>3</a:t>
            </a:fld>
            <a:endParaRPr lang="en-US" dirty="0"/>
          </a:p>
        </p:txBody>
      </p:sp>
    </p:spTree>
    <p:extLst>
      <p:ext uri="{BB962C8B-B14F-4D97-AF65-F5344CB8AC3E}">
        <p14:creationId xmlns:p14="http://schemas.microsoft.com/office/powerpoint/2010/main" val="10833080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D21CC-C4DE-3C80-9B7E-21671C189DC1}"/>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D06D68D3-1A10-34F6-198C-32B5209AC7EC}"/>
              </a:ext>
            </a:extLst>
          </p:cNvPr>
          <p:cNvSpPr>
            <a:spLocks noGrp="1"/>
          </p:cNvSpPr>
          <p:nvPr>
            <p:ph type="title"/>
          </p:nvPr>
        </p:nvSpPr>
        <p:spPr>
          <a:xfrm>
            <a:off x="628650" y="365126"/>
            <a:ext cx="7886700" cy="1325563"/>
          </a:xfrm>
        </p:spPr>
        <p:txBody>
          <a:bodyPr/>
          <a:lstStyle/>
          <a:p>
            <a:pPr algn="ctr"/>
            <a:r>
              <a:rPr lang="en-US" dirty="0"/>
              <a:t>The Book</a:t>
            </a:r>
          </a:p>
        </p:txBody>
      </p:sp>
      <p:sp>
        <p:nvSpPr>
          <p:cNvPr id="10" name="Slide Number Placeholder 9">
            <a:extLst>
              <a:ext uri="{FF2B5EF4-FFF2-40B4-BE49-F238E27FC236}">
                <a16:creationId xmlns:a16="http://schemas.microsoft.com/office/drawing/2014/main" id="{5889D051-0E30-54B1-0965-E3A0F0CD2ADC}"/>
              </a:ext>
            </a:extLst>
          </p:cNvPr>
          <p:cNvSpPr>
            <a:spLocks noGrp="1"/>
          </p:cNvSpPr>
          <p:nvPr>
            <p:ph type="sldNum" sz="quarter" idx="12"/>
          </p:nvPr>
        </p:nvSpPr>
        <p:spPr/>
        <p:txBody>
          <a:bodyPr/>
          <a:lstStyle/>
          <a:p>
            <a:fld id="{88700BC0-C98F-4901-B94C-E1B0001E3602}" type="slidenum">
              <a:rPr lang="en-US" smtClean="0"/>
              <a:t>4</a:t>
            </a:fld>
            <a:endParaRPr lang="en-US" dirty="0"/>
          </a:p>
        </p:txBody>
      </p:sp>
      <p:pic>
        <p:nvPicPr>
          <p:cNvPr id="6" name="Picture 5">
            <a:extLst>
              <a:ext uri="{FF2B5EF4-FFF2-40B4-BE49-F238E27FC236}">
                <a16:creationId xmlns:a16="http://schemas.microsoft.com/office/drawing/2014/main" id="{DD8822C8-90FF-E78B-E7C0-114A89C4D3B6}"/>
              </a:ext>
            </a:extLst>
          </p:cNvPr>
          <p:cNvPicPr>
            <a:picLocks noChangeAspect="1"/>
          </p:cNvPicPr>
          <p:nvPr/>
        </p:nvPicPr>
        <p:blipFill>
          <a:blip r:embed="rId2"/>
          <a:srcRect l="27684" t="22445" r="48211" b="15614"/>
          <a:stretch>
            <a:fillRect/>
          </a:stretch>
        </p:blipFill>
        <p:spPr>
          <a:xfrm>
            <a:off x="48125" y="1701241"/>
            <a:ext cx="2512193" cy="3631160"/>
          </a:xfrm>
          <a:prstGeom prst="rect">
            <a:avLst/>
          </a:prstGeom>
        </p:spPr>
      </p:pic>
      <p:sp>
        <p:nvSpPr>
          <p:cNvPr id="8" name="TextBox 7">
            <a:extLst>
              <a:ext uri="{FF2B5EF4-FFF2-40B4-BE49-F238E27FC236}">
                <a16:creationId xmlns:a16="http://schemas.microsoft.com/office/drawing/2014/main" id="{51B9F1A3-6640-B8A4-E3F6-1BDF57890B95}"/>
              </a:ext>
            </a:extLst>
          </p:cNvPr>
          <p:cNvSpPr txBox="1"/>
          <p:nvPr/>
        </p:nvSpPr>
        <p:spPr>
          <a:xfrm>
            <a:off x="2512193" y="1740031"/>
            <a:ext cx="6554805" cy="4185761"/>
          </a:xfrm>
          <a:prstGeom prst="rect">
            <a:avLst/>
          </a:prstGeom>
          <a:noFill/>
        </p:spPr>
        <p:txBody>
          <a:bodyPr wrap="square">
            <a:spAutoFit/>
          </a:bodyPr>
          <a:lstStyle/>
          <a:p>
            <a:pPr algn="l">
              <a:buNone/>
            </a:pPr>
            <a:r>
              <a:rPr lang="en-US" sz="1400" b="0" i="0" dirty="0">
                <a:solidFill>
                  <a:srgbClr val="0F1111"/>
                </a:solidFill>
                <a:effectLst/>
                <a:latin typeface="Amazon Ember Modern Text"/>
              </a:rPr>
              <a:t>Mexican American and Puerto Rican women have long taken up the challenge to improve the lives of Chicagoans in the city’s Latino/a/x communities. Rita D. Hernández, Leticia Villarreal Sosa, and Elena R. Gutiérrez present testimonies by Latina leaders who blazed new trails and shaped Latina Chicago history from the 1960s through today.</a:t>
            </a:r>
          </a:p>
          <a:p>
            <a:pPr algn="l">
              <a:buNone/>
            </a:pPr>
            <a:endParaRPr lang="en-US" sz="1400" b="0" i="0" dirty="0">
              <a:solidFill>
                <a:srgbClr val="0F1111"/>
              </a:solidFill>
              <a:effectLst/>
              <a:latin typeface="Amazon Ember Modern Text"/>
            </a:endParaRPr>
          </a:p>
          <a:p>
            <a:pPr algn="l">
              <a:buNone/>
            </a:pPr>
            <a:r>
              <a:rPr lang="en-US" sz="1400" b="0" i="0" dirty="0">
                <a:solidFill>
                  <a:srgbClr val="0F1111"/>
                </a:solidFill>
                <a:effectLst/>
                <a:latin typeface="Amazon Ember Modern Text"/>
              </a:rPr>
              <a:t>Taking a do-it-all attitude, these Mexican and Puerto Rican women advanced agendas, built new infrastructures, revamped institutions, forged alliances, and created essential resources that Latino/a/x communities lacked. They were the first Latinas to hold their post or </a:t>
            </a:r>
            <a:r>
              <a:rPr lang="en-US" sz="1400" dirty="0">
                <a:solidFill>
                  <a:srgbClr val="0F1111"/>
                </a:solidFill>
                <a:latin typeface="Amazon Ember Modern Text"/>
              </a:rPr>
              <a:t>create</a:t>
            </a:r>
            <a:r>
              <a:rPr lang="en-US" sz="1400" b="0" i="0" dirty="0">
                <a:solidFill>
                  <a:srgbClr val="0F1111"/>
                </a:solidFill>
                <a:effectLst/>
                <a:latin typeface="Amazon Ember Modern Text"/>
              </a:rPr>
              <a:t> the first Latino/a/x institution of its kind. Just as often, early grassroots efforts to address issues affecting themselves, their families, and their neighborhoods grew into larger endeavors. Their experiences ranged from public schools to healthcare to politics to community activism to broadcast media, and each woman’s story shows how her work changed countless lives and still reverberates across the entire city through the infrastructures they created.</a:t>
            </a:r>
          </a:p>
          <a:p>
            <a:pPr algn="l">
              <a:buNone/>
            </a:pPr>
            <a:endParaRPr lang="en-US" sz="1400" b="0" i="0" dirty="0">
              <a:solidFill>
                <a:srgbClr val="0F1111"/>
              </a:solidFill>
              <a:effectLst/>
              <a:latin typeface="Amazon Ember Modern Text"/>
            </a:endParaRPr>
          </a:p>
          <a:p>
            <a:pPr algn="l">
              <a:buNone/>
            </a:pPr>
            <a:r>
              <a:rPr lang="en-US" sz="1400" b="0" i="0" dirty="0">
                <a:solidFill>
                  <a:srgbClr val="0F1111"/>
                </a:solidFill>
                <a:effectLst/>
                <a:latin typeface="Amazon Ember Modern Text"/>
              </a:rPr>
              <a:t>An eyewitness view of an unknown history, </a:t>
            </a:r>
            <a:r>
              <a:rPr lang="en-US" sz="1400" b="0" i="1" dirty="0">
                <a:solidFill>
                  <a:srgbClr val="0F1111"/>
                </a:solidFill>
                <a:effectLst/>
                <a:latin typeface="inherit"/>
              </a:rPr>
              <a:t>Chicago Latina Trailblazers</a:t>
            </a:r>
            <a:r>
              <a:rPr lang="en-US" sz="1400" b="0" i="0" dirty="0">
                <a:solidFill>
                  <a:srgbClr val="0F1111"/>
                </a:solidFill>
                <a:effectLst/>
                <a:latin typeface="Amazon Ember Modern Text"/>
              </a:rPr>
              <a:t> reveals the vision and passion that fueled a group of women in the vanguard of reform.</a:t>
            </a:r>
          </a:p>
          <a:p>
            <a:pPr algn="l">
              <a:buNone/>
            </a:pPr>
            <a:endParaRPr lang="en-US" sz="1400" dirty="0">
              <a:solidFill>
                <a:srgbClr val="0F1111"/>
              </a:solidFill>
              <a:latin typeface="Amazon Ember Modern Text"/>
            </a:endParaRPr>
          </a:p>
          <a:p>
            <a:pPr algn="l">
              <a:buNone/>
            </a:pPr>
            <a:r>
              <a:rPr lang="en-US" sz="1400" b="0" i="0" dirty="0">
                <a:solidFill>
                  <a:srgbClr val="0F1111"/>
                </a:solidFill>
                <a:effectLst/>
                <a:latin typeface="Amazon Ember Modern Text"/>
              </a:rPr>
              <a:t>Source: University of Illinois press, 2024.</a:t>
            </a:r>
          </a:p>
        </p:txBody>
      </p:sp>
    </p:spTree>
    <p:extLst>
      <p:ext uri="{BB962C8B-B14F-4D97-AF65-F5344CB8AC3E}">
        <p14:creationId xmlns:p14="http://schemas.microsoft.com/office/powerpoint/2010/main" val="32636002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01821FE-67C9-25C5-A5E7-C09E5B1A0D5E}"/>
              </a:ext>
            </a:extLst>
          </p:cNvPr>
          <p:cNvSpPr>
            <a:spLocks noGrp="1"/>
          </p:cNvSpPr>
          <p:nvPr>
            <p:ph type="title"/>
          </p:nvPr>
        </p:nvSpPr>
        <p:spPr>
          <a:xfrm>
            <a:off x="628650" y="365126"/>
            <a:ext cx="7886700" cy="1325563"/>
          </a:xfrm>
        </p:spPr>
        <p:txBody>
          <a:bodyPr/>
          <a:lstStyle/>
          <a:p>
            <a:pPr algn="ctr"/>
            <a:r>
              <a:rPr lang="en-US" dirty="0"/>
              <a:t>Our Budget </a:t>
            </a:r>
            <a:br>
              <a:rPr lang="en-US" dirty="0"/>
            </a:br>
            <a:r>
              <a:rPr lang="en-US" sz="2400" dirty="0"/>
              <a:t>(See ID Gaps)</a:t>
            </a:r>
            <a:endParaRPr lang="en-US" dirty="0"/>
          </a:p>
        </p:txBody>
      </p:sp>
      <p:sp>
        <p:nvSpPr>
          <p:cNvPr id="8" name="Slide Number Placeholder 7">
            <a:extLst>
              <a:ext uri="{FF2B5EF4-FFF2-40B4-BE49-F238E27FC236}">
                <a16:creationId xmlns:a16="http://schemas.microsoft.com/office/drawing/2014/main" id="{5C198919-9E2D-D237-876C-DB95BD33DFB6}"/>
              </a:ext>
            </a:extLst>
          </p:cNvPr>
          <p:cNvSpPr>
            <a:spLocks noGrp="1"/>
          </p:cNvSpPr>
          <p:nvPr>
            <p:ph type="sldNum" sz="quarter" idx="12"/>
          </p:nvPr>
        </p:nvSpPr>
        <p:spPr/>
        <p:txBody>
          <a:bodyPr/>
          <a:lstStyle/>
          <a:p>
            <a:fld id="{88700BC0-C98F-4901-B94C-E1B0001E3602}" type="slidenum">
              <a:rPr lang="en-US" smtClean="0"/>
              <a:t>5</a:t>
            </a:fld>
            <a:endParaRPr lang="en-US" dirty="0"/>
          </a:p>
        </p:txBody>
      </p:sp>
      <p:pic>
        <p:nvPicPr>
          <p:cNvPr id="3" name="Picture 2">
            <a:extLst>
              <a:ext uri="{FF2B5EF4-FFF2-40B4-BE49-F238E27FC236}">
                <a16:creationId xmlns:a16="http://schemas.microsoft.com/office/drawing/2014/main" id="{FACE398D-7FA2-7ACC-1192-D167D22C5D96}"/>
              </a:ext>
            </a:extLst>
          </p:cNvPr>
          <p:cNvPicPr>
            <a:picLocks noChangeAspect="1"/>
          </p:cNvPicPr>
          <p:nvPr/>
        </p:nvPicPr>
        <p:blipFill>
          <a:blip r:embed="rId2"/>
          <a:stretch>
            <a:fillRect/>
          </a:stretch>
        </p:blipFill>
        <p:spPr>
          <a:xfrm>
            <a:off x="1840681" y="1652562"/>
            <a:ext cx="5462638" cy="4840312"/>
          </a:xfrm>
          <a:prstGeom prst="rect">
            <a:avLst/>
          </a:prstGeom>
        </p:spPr>
      </p:pic>
    </p:spTree>
    <p:extLst>
      <p:ext uri="{BB962C8B-B14F-4D97-AF65-F5344CB8AC3E}">
        <p14:creationId xmlns:p14="http://schemas.microsoft.com/office/powerpoint/2010/main" val="7337590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77C42-C68F-683E-3C7B-C5734FB3254F}"/>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ADF8DF9F-E797-B8CD-4248-1C23CED14773}"/>
              </a:ext>
            </a:extLst>
          </p:cNvPr>
          <p:cNvSpPr>
            <a:spLocks noGrp="1"/>
          </p:cNvSpPr>
          <p:nvPr>
            <p:ph type="title"/>
          </p:nvPr>
        </p:nvSpPr>
        <p:spPr>
          <a:xfrm>
            <a:off x="628650" y="365126"/>
            <a:ext cx="7886700" cy="1325563"/>
          </a:xfrm>
        </p:spPr>
        <p:txBody>
          <a:bodyPr/>
          <a:lstStyle/>
          <a:p>
            <a:pPr algn="ctr"/>
            <a:r>
              <a:rPr lang="en-US" dirty="0"/>
              <a:t>Contact Information</a:t>
            </a:r>
          </a:p>
        </p:txBody>
      </p:sp>
      <p:sp>
        <p:nvSpPr>
          <p:cNvPr id="10" name="Slide Number Placeholder 9">
            <a:extLst>
              <a:ext uri="{FF2B5EF4-FFF2-40B4-BE49-F238E27FC236}">
                <a16:creationId xmlns:a16="http://schemas.microsoft.com/office/drawing/2014/main" id="{AEC2B2ED-DA26-6C3E-C8E4-307045034AE1}"/>
              </a:ext>
            </a:extLst>
          </p:cNvPr>
          <p:cNvSpPr>
            <a:spLocks noGrp="1"/>
          </p:cNvSpPr>
          <p:nvPr>
            <p:ph type="sldNum" sz="quarter" idx="12"/>
          </p:nvPr>
        </p:nvSpPr>
        <p:spPr/>
        <p:txBody>
          <a:bodyPr/>
          <a:lstStyle/>
          <a:p>
            <a:fld id="{88700BC0-C98F-4901-B94C-E1B0001E3602}" type="slidenum">
              <a:rPr lang="en-US" smtClean="0"/>
              <a:t>6</a:t>
            </a:fld>
            <a:endParaRPr lang="en-US" dirty="0"/>
          </a:p>
        </p:txBody>
      </p:sp>
      <p:sp>
        <p:nvSpPr>
          <p:cNvPr id="2" name="TextBox 1">
            <a:extLst>
              <a:ext uri="{FF2B5EF4-FFF2-40B4-BE49-F238E27FC236}">
                <a16:creationId xmlns:a16="http://schemas.microsoft.com/office/drawing/2014/main" id="{6ACD274D-CCC1-0826-36D3-7F86BA67D6F7}"/>
              </a:ext>
            </a:extLst>
          </p:cNvPr>
          <p:cNvSpPr txBox="1"/>
          <p:nvPr/>
        </p:nvSpPr>
        <p:spPr>
          <a:xfrm>
            <a:off x="1066545" y="1777316"/>
            <a:ext cx="3260906" cy="1754326"/>
          </a:xfrm>
          <a:prstGeom prst="rect">
            <a:avLst/>
          </a:prstGeom>
          <a:noFill/>
        </p:spPr>
        <p:txBody>
          <a:bodyPr wrap="square" rtlCol="0">
            <a:spAutoFit/>
          </a:bodyPr>
          <a:lstStyle/>
          <a:p>
            <a:r>
              <a:rPr lang="en-US" dirty="0"/>
              <a:t>Dr. Rita D. Hernandez</a:t>
            </a:r>
          </a:p>
          <a:p>
            <a:r>
              <a:rPr lang="en-US" dirty="0"/>
              <a:t>President</a:t>
            </a:r>
          </a:p>
          <a:p>
            <a:r>
              <a:rPr lang="en-US" dirty="0"/>
              <a:t>Trailblazer Foundation NFP</a:t>
            </a:r>
          </a:p>
          <a:p>
            <a:r>
              <a:rPr lang="en-US" dirty="0" err="1"/>
              <a:t>hernandez.rita@sbcglobal.net</a:t>
            </a:r>
            <a:endParaRPr lang="en-US" dirty="0"/>
          </a:p>
          <a:p>
            <a:r>
              <a:rPr lang="en-US" dirty="0"/>
              <a:t>(773)576-6314</a:t>
            </a:r>
          </a:p>
          <a:p>
            <a:endParaRPr lang="en-US" dirty="0">
              <a:solidFill>
                <a:srgbClr val="FF0000"/>
              </a:solidFill>
            </a:endParaRPr>
          </a:p>
        </p:txBody>
      </p:sp>
      <p:sp>
        <p:nvSpPr>
          <p:cNvPr id="3" name="TextBox 2">
            <a:extLst>
              <a:ext uri="{FF2B5EF4-FFF2-40B4-BE49-F238E27FC236}">
                <a16:creationId xmlns:a16="http://schemas.microsoft.com/office/drawing/2014/main" id="{9A0B3C5E-6376-3180-A46B-AD6D3BB0BFF6}"/>
              </a:ext>
            </a:extLst>
          </p:cNvPr>
          <p:cNvSpPr txBox="1"/>
          <p:nvPr/>
        </p:nvSpPr>
        <p:spPr>
          <a:xfrm>
            <a:off x="4966034" y="1777316"/>
            <a:ext cx="2983831" cy="1754326"/>
          </a:xfrm>
          <a:prstGeom prst="rect">
            <a:avLst/>
          </a:prstGeom>
          <a:noFill/>
        </p:spPr>
        <p:txBody>
          <a:bodyPr wrap="square" rtlCol="0">
            <a:spAutoFit/>
          </a:bodyPr>
          <a:lstStyle/>
          <a:p>
            <a:r>
              <a:rPr lang="en-US" dirty="0"/>
              <a:t>Dr. Ted Rivera</a:t>
            </a:r>
          </a:p>
          <a:p>
            <a:r>
              <a:rPr lang="en-US" dirty="0"/>
              <a:t>Treasurer</a:t>
            </a:r>
          </a:p>
          <a:p>
            <a:r>
              <a:rPr lang="en-US" dirty="0"/>
              <a:t>Trailblazer Foundation NFP</a:t>
            </a:r>
          </a:p>
          <a:p>
            <a:r>
              <a:rPr lang="en-US" dirty="0">
                <a:hlinkClick r:id="rId2"/>
              </a:rPr>
              <a:t>tedrivera@hotmail.com</a:t>
            </a:r>
            <a:endParaRPr lang="en-US" dirty="0"/>
          </a:p>
          <a:p>
            <a:r>
              <a:rPr lang="en-US" dirty="0"/>
              <a:t>(847)293-4707</a:t>
            </a:r>
          </a:p>
          <a:p>
            <a:r>
              <a:rPr lang="en-US" dirty="0"/>
              <a:t> </a:t>
            </a:r>
          </a:p>
        </p:txBody>
      </p:sp>
    </p:spTree>
    <p:extLst>
      <p:ext uri="{BB962C8B-B14F-4D97-AF65-F5344CB8AC3E}">
        <p14:creationId xmlns:p14="http://schemas.microsoft.com/office/powerpoint/2010/main" val="29051159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railblazer Foundation NFP. Grant Request. D2" id="{D13E90CF-63FC-B443-85D2-E0D5F44C5991}" vid="{85BA3CD3-6451-6A4E-B7F9-4AAA90F551C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2900</TotalTime>
  <Words>870</Words>
  <Application>Microsoft Office PowerPoint</Application>
  <PresentationFormat>On-screen Show (4:3)</PresentationFormat>
  <Paragraphs>55</Paragraphs>
  <Slides>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Amazon Ember Modern Text</vt:lpstr>
      <vt:lpstr>Aptos</vt:lpstr>
      <vt:lpstr>Aptos Display</vt:lpstr>
      <vt:lpstr>Arial</vt:lpstr>
      <vt:lpstr>Calibri</vt:lpstr>
      <vt:lpstr>inherit</vt:lpstr>
      <vt:lpstr>Office Theme</vt:lpstr>
      <vt:lpstr>Trailblazer Foundation NFP  Request for Funding</vt:lpstr>
      <vt:lpstr>Executive Summary</vt:lpstr>
      <vt:lpstr>Trailblazer Foundation NFP</vt:lpstr>
      <vt:lpstr>The Book</vt:lpstr>
      <vt:lpstr>Our Budget  (See ID Gaps)</vt:lpstr>
      <vt:lpstr>Contact Information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ted rivera</dc:creator>
  <cp:lastModifiedBy>ted rivera</cp:lastModifiedBy>
  <cp:revision>97</cp:revision>
  <cp:lastPrinted>2025-11-17T18:17:33Z</cp:lastPrinted>
  <dcterms:created xsi:type="dcterms:W3CDTF">2025-11-03T14:17:41Z</dcterms:created>
  <dcterms:modified xsi:type="dcterms:W3CDTF">2026-03-08T19:36:56Z</dcterms:modified>
</cp:coreProperties>
</file>